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VhMi97NssQjqNAIO7iKoX6C2T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bold.fntdata"/><Relationship Id="rId6" Type="http://schemas.openxmlformats.org/officeDocument/2006/relationships/slide" Target="slides/slide2.xml"/><Relationship Id="rId18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8FA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13"/>
          <p:cNvCxnSpPr/>
          <p:nvPr/>
        </p:nvCxnSpPr>
        <p:spPr>
          <a:xfrm>
            <a:off x="411480" y="6492240"/>
            <a:ext cx="1136599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13"/>
          <p:cNvSpPr/>
          <p:nvPr/>
        </p:nvSpPr>
        <p:spPr>
          <a:xfrm>
            <a:off x="457200" y="6519672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MicroLogist · Fase 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183153"/>
          </a:solidFill>
          <a:ln cap="flat" cmpd="sng" w="1270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069080" y="0"/>
            <a:ext cx="91440" cy="68580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66928" y="65836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CAPSTONE · FASE 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66928" y="120700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MicroLogist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66928" y="1956816"/>
            <a:ext cx="2971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Gestión simple para empresas de transporte de pasajeros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27;p1"/>
          <p:cNvCxnSpPr/>
          <p:nvPr/>
        </p:nvCxnSpPr>
        <p:spPr>
          <a:xfrm>
            <a:off x="566928" y="3182112"/>
            <a:ext cx="26517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1"/>
          <p:cNvSpPr/>
          <p:nvPr/>
        </p:nvSpPr>
        <p:spPr>
          <a:xfrm>
            <a:off x="566928" y="3410712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Joaquín Orellana · José Vargas · Simón Jofré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66928" y="406908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Ingeniería en Informática · Sede Valparaíso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s1_img1.jpg" id="30" name="Google Shape;3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914400"/>
            <a:ext cx="4297680" cy="106984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5943600" y="2331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Proyecto APT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577840" y="2788920"/>
            <a:ext cx="5303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Plataforma web responsive para centralizar vehículos, conductores, turnos, documentación, alertas e ingresos.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 txBox="1"/>
          <p:nvPr>
            <p:ph idx="4294967295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502920" y="25603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EQUIPO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02920" y="57607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183153"/>
                </a:solidFill>
                <a:latin typeface="Play"/>
                <a:ea typeface="Play"/>
                <a:cs typeface="Play"/>
                <a:sym typeface="Play"/>
              </a:rPr>
              <a:t>Integrantes y responsabilidades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2920" y="10515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Roles principales dentro del enfoque ágil propuesto.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s1_img1.jpg"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0" y="164592"/>
            <a:ext cx="242316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594360" y="1664208"/>
            <a:ext cx="3401568" cy="43159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94360" y="1664208"/>
            <a:ext cx="3401568" cy="1097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792224" y="2029968"/>
            <a:ext cx="1005840" cy="1005840"/>
          </a:xfrm>
          <a:prstGeom prst="ellipse">
            <a:avLst/>
          </a:prstGeom>
          <a:solidFill>
            <a:srgbClr val="EFF6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792224" y="228600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50392" y="3255264"/>
            <a:ext cx="2889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Joaquín Orellana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536192" y="3675888"/>
            <a:ext cx="1517904" cy="310896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609344" y="372618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Product Owner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41832" y="4334256"/>
            <a:ext cx="91440" cy="9144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106437" y="4201667"/>
            <a:ext cx="2541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Priorización de requisitos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41832" y="4718304"/>
            <a:ext cx="91440" cy="9144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106437" y="4585715"/>
            <a:ext cx="2541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Validación de funcionalidades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41832" y="5102352"/>
            <a:ext cx="91440" cy="9144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106437" y="4969763"/>
            <a:ext cx="2541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Análisis y gestión de datos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389120" y="1664208"/>
            <a:ext cx="3401568" cy="43159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389120" y="1664208"/>
            <a:ext cx="3401568" cy="109728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586984" y="2029968"/>
            <a:ext cx="1005840" cy="1005840"/>
          </a:xfrm>
          <a:prstGeom prst="ellipse">
            <a:avLst/>
          </a:prstGeom>
          <a:solidFill>
            <a:srgbClr val="ECFDF5"/>
          </a:solidFill>
          <a:ln cap="flat" cmpd="sng" w="254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586984" y="228600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JV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645152" y="3255264"/>
            <a:ext cx="2889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José Vargas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330952" y="3675888"/>
            <a:ext cx="1517904" cy="310896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404104" y="372618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736592" y="4334256"/>
            <a:ext cx="91440" cy="9144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910260" y="4201667"/>
            <a:ext cx="2541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Backend y lógica del sistema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736592" y="4718304"/>
            <a:ext cx="91440" cy="9144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910260" y="4585715"/>
            <a:ext cx="2541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Base de datos e integración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736592" y="5102352"/>
            <a:ext cx="91440" cy="9144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910260" y="4969763"/>
            <a:ext cx="2541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Apoyo Full Stack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8183880" y="1664208"/>
            <a:ext cx="3401568" cy="43159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183880" y="1664208"/>
            <a:ext cx="3401568" cy="10972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9381744" y="2029968"/>
            <a:ext cx="1005840" cy="1005840"/>
          </a:xfrm>
          <a:prstGeom prst="ellipse">
            <a:avLst/>
          </a:prstGeom>
          <a:solidFill>
            <a:srgbClr val="F5F3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9381744" y="228600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SJ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439912" y="3255264"/>
            <a:ext cx="2889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Simón Jofré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9125712" y="3675888"/>
            <a:ext cx="1517904" cy="310896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F5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9198864" y="372618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Scrum Master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8531352" y="4334256"/>
            <a:ext cx="91440" cy="9144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8714082" y="4201717"/>
            <a:ext cx="2541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Seguimiento del equipo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8531352" y="4718304"/>
            <a:ext cx="91440" cy="9144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8714082" y="4585765"/>
            <a:ext cx="2541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Seguridad y autenticación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8531352" y="5102352"/>
            <a:ext cx="91440" cy="9144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8714082" y="4969813"/>
            <a:ext cx="2541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Pruebas y control de acceso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777240" y="6089904"/>
            <a:ext cx="106253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Los roles orientan la organización, pero el análisis, desarrollo, pruebas, documentación y presentación son responsabilidades compartidas.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 txBox="1"/>
          <p:nvPr>
            <p:ph idx="4294967295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/>
          <p:nvPr/>
        </p:nvSpPr>
        <p:spPr>
          <a:xfrm>
            <a:off x="502920" y="25603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PERFIL Y VOCACIÓN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502920" y="57607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183153"/>
                </a:solidFill>
                <a:latin typeface="Play"/>
                <a:ea typeface="Play"/>
                <a:cs typeface="Play"/>
                <a:sym typeface="Play"/>
              </a:rPr>
              <a:t>Perfil de egreso e intereses profesionales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502920" y="10515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Cómo se conecta con las competencias de la carrera y con los intereses de cada integrante.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s1_img1.jpg" id="91" name="Google Shape;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0" y="164592"/>
            <a:ext cx="242316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/>
          <p:nvPr/>
        </p:nvSpPr>
        <p:spPr>
          <a:xfrm>
            <a:off x="621792" y="1627632"/>
            <a:ext cx="5285100" cy="4498800"/>
          </a:xfrm>
          <a:prstGeom prst="rect">
            <a:avLst/>
          </a:prstGeom>
          <a:solidFill>
            <a:srgbClr val="F7FBFF"/>
          </a:solidFill>
          <a:ln cap="flat" cmpd="sng" w="12700">
            <a:solidFill>
              <a:srgbClr val="D7E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932688" y="1874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Competencias del perfil de egreso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950976" y="24048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115456" y="22230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Ofrecer propuestas de solución informática y desarrollar software.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950976" y="29001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1115456" y="27183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Construir modelos de datos y programas o rutinas.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950976" y="33954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1115456" y="32136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Construir el modelo arquitectónico de una solución.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950976" y="38907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1115456" y="37089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Implementar soluciones sistémicas integrales.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950976" y="43860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1115456" y="42042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Gestionar proyectos informáticos.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950976" y="48813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1115456" y="46995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Comunicar en forma oral y escrita; emprender e innovar.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6272784" y="1627632"/>
            <a:ext cx="5303520" cy="449884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F2D3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6583680" y="1874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Intereses profesionales del equipo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601968" y="2404872"/>
            <a:ext cx="91440" cy="9144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6775698" y="222314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José Vargas: bases de datos y desarrollo Full Stack (modelamiento, consultas e integración).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6601968" y="2999232"/>
            <a:ext cx="91440" cy="9144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775698" y="281750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Simón Jofré: ciberseguridad (requisitos de seguridad, autenticación y control de acceso).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601968" y="3593592"/>
            <a:ext cx="91440" cy="9144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775698" y="341186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Joaquín Orellana: IA y ciencia de datos (estructura, calidad y análisis de la información).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601968" y="4187952"/>
            <a:ext cx="91440" cy="9144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6775698" y="400622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Los tres intereses se complementan: desarrollo, seguridad y gestión de datos.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6601968" y="4782312"/>
            <a:ext cx="91440" cy="9144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6775698" y="460058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Requisitos, validación, pruebas, documentación y presentación son responsabilidad compartida.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 txBox="1"/>
          <p:nvPr>
            <p:ph idx="4294967295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502920" y="25603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02920" y="57607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183153"/>
                </a:solidFill>
                <a:latin typeface="Play"/>
                <a:ea typeface="Play"/>
                <a:cs typeface="Play"/>
                <a:sym typeface="Play"/>
              </a:rPr>
              <a:t>Problema y usuarios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502920" y="10515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El problema no se limita a micros o colectivos: aparece en distintos servicios de transporte de personas.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s1_img1.jpg"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0" y="164592"/>
            <a:ext cx="242316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/>
          <p:nvPr/>
        </p:nvSpPr>
        <p:spPr>
          <a:xfrm>
            <a:off x="594360" y="1627632"/>
            <a:ext cx="5074920" cy="44256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868680" y="19019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Problema principal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868680" y="2304288"/>
            <a:ext cx="4389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La información operacional suele quedar dispersa entre planillas, documentos físicos, calendarios y conversaciones de WhatsApp.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896112" y="3493008"/>
            <a:ext cx="91440" cy="914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1037804" y="3313506"/>
            <a:ext cx="41880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Dificultad para conocer el estado real de la flota.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896112" y="3973068"/>
            <a:ext cx="91440" cy="914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037804" y="3793566"/>
            <a:ext cx="41880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Mayor riesgo de olvidar vencimientos de documentos.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896112" y="4453128"/>
            <a:ext cx="91440" cy="914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1037804" y="4273626"/>
            <a:ext cx="41880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Multas o detención de vehículos por documentación vencida.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896112" y="4933188"/>
            <a:ext cx="91440" cy="914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1037804" y="4753686"/>
            <a:ext cx="41880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Impacto directo en la continuidad del servicio.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6016752" y="1627632"/>
            <a:ext cx="5532120" cy="4425696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6355080" y="19019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Usuarios objetivo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6355080" y="2395728"/>
            <a:ext cx="2139696" cy="1115568"/>
          </a:xfrm>
          <a:prstGeom prst="rect">
            <a:avLst/>
          </a:prstGeom>
          <a:solidFill>
            <a:srgbClr val="F8FB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6483096" y="2542032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Urbano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483096" y="2852928"/>
            <a:ext cx="18836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Micros, colectivos y servicios de recorrido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8787384" y="2395728"/>
            <a:ext cx="2139696" cy="111556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8915400" y="2542032"/>
            <a:ext cx="1883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Escolar</a:t>
            </a:r>
            <a:endParaRPr b="1" i="0" sz="1250" u="none" cap="none" strike="noStrike">
              <a:solidFill>
                <a:srgbClr val="A1620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8915400" y="2852928"/>
            <a:ext cx="18836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Transporte de estudiantes y colegios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6355080" y="3840480"/>
            <a:ext cx="2139696" cy="1115568"/>
          </a:xfrm>
          <a:prstGeom prst="rect">
            <a:avLst/>
          </a:prstGeom>
          <a:solidFill>
            <a:srgbClr val="F8FBFF"/>
          </a:solidFill>
          <a:ln cap="flat" cmpd="sng" w="12700">
            <a:solidFill>
              <a:srgbClr val="D7E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6483096" y="3986784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Empresarial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483096" y="4297680"/>
            <a:ext cx="18836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Traslado de trabajadores o estudiantes universitarios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8787384" y="3840480"/>
            <a:ext cx="2139696" cy="111556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8915400" y="3986784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Turistico / Particular</a:t>
            </a:r>
            <a:endParaRPr b="1" i="0" sz="1250" u="none" cap="none" strike="noStrike">
              <a:solidFill>
                <a:srgbClr val="A1620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8915400" y="4297680"/>
            <a:ext cx="18836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Viajes, tours y servicios privados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373368" y="541324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Necesidad común: centralizar información y reducir errores administrativos.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 txBox="1"/>
          <p:nvPr>
            <p:ph idx="4294967295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502920" y="25603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PROPUESTA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502920" y="57607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183153"/>
                </a:solidFill>
                <a:latin typeface="Play"/>
                <a:ea typeface="Play"/>
                <a:cs typeface="Play"/>
                <a:sym typeface="Play"/>
              </a:rPr>
              <a:t>Solución 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02920" y="10515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Una plataforma web responsive enfocada en la gestión esencial de pequeñas y medianas empresas de transporte de pasajeros.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s1_img1.jpg" id="163" name="Google Shape;1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0" y="164592"/>
            <a:ext cx="242316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"/>
          <p:cNvSpPr/>
          <p:nvPr/>
        </p:nvSpPr>
        <p:spPr>
          <a:xfrm>
            <a:off x="4160520" y="1847088"/>
            <a:ext cx="3822300" cy="2907900"/>
          </a:xfrm>
          <a:prstGeom prst="rect">
            <a:avLst/>
          </a:prstGeom>
          <a:solidFill>
            <a:srgbClr val="183153"/>
          </a:solidFill>
          <a:ln cap="flat" cmpd="sng" w="1270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434840" y="2816352"/>
            <a:ext cx="3273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MICROLOGIST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4443984" y="3182112"/>
            <a:ext cx="32552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8F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DE8F4"/>
                </a:solidFill>
                <a:latin typeface="Arial"/>
                <a:ea typeface="Arial"/>
                <a:cs typeface="Arial"/>
                <a:sym typeface="Arial"/>
              </a:rPr>
              <a:t>Web · PC · Tablet · Teléfono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40080" y="1783080"/>
            <a:ext cx="2084832" cy="8229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749808" y="2039112"/>
            <a:ext cx="18653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Vehículos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640080" y="2926080"/>
            <a:ext cx="2084832" cy="822960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749808" y="3182112"/>
            <a:ext cx="18653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Conductores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40080" y="4069080"/>
            <a:ext cx="2084832" cy="82296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749808" y="4325112"/>
            <a:ext cx="18653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Turnos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9464040" y="1783080"/>
            <a:ext cx="2084832" cy="822960"/>
          </a:xfrm>
          <a:prstGeom prst="rect">
            <a:avLst/>
          </a:prstGeom>
          <a:solidFill>
            <a:srgbClr val="FFF7E6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9573768" y="2039112"/>
            <a:ext cx="18653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Documentación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9464040" y="2926080"/>
            <a:ext cx="2084832" cy="82296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9573768" y="3182112"/>
            <a:ext cx="18653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9464040" y="4069080"/>
            <a:ext cx="2084832" cy="822960"/>
          </a:xfrm>
          <a:prstGeom prst="rect">
            <a:avLst/>
          </a:prstGeom>
          <a:solidFill>
            <a:srgbClr val="ECFE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9573768" y="4325112"/>
            <a:ext cx="18653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Ingresos opcionales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4"/>
          <p:cNvCxnSpPr/>
          <p:nvPr/>
        </p:nvCxnSpPr>
        <p:spPr>
          <a:xfrm>
            <a:off x="2697480" y="2194560"/>
            <a:ext cx="1463039" cy="0"/>
          </a:xfrm>
          <a:prstGeom prst="straightConnector1">
            <a:avLst/>
          </a:prstGeom>
          <a:noFill/>
          <a:ln cap="flat" cmpd="sng" w="19050">
            <a:solidFill>
              <a:srgbClr val="B6C3D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4"/>
          <p:cNvCxnSpPr/>
          <p:nvPr/>
        </p:nvCxnSpPr>
        <p:spPr>
          <a:xfrm>
            <a:off x="2697480" y="3337560"/>
            <a:ext cx="1463039" cy="0"/>
          </a:xfrm>
          <a:prstGeom prst="straightConnector1">
            <a:avLst/>
          </a:prstGeom>
          <a:noFill/>
          <a:ln cap="flat" cmpd="sng" w="19050">
            <a:solidFill>
              <a:srgbClr val="B6C3D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" name="Google Shape;181;p4"/>
          <p:cNvCxnSpPr/>
          <p:nvPr/>
        </p:nvCxnSpPr>
        <p:spPr>
          <a:xfrm>
            <a:off x="2697480" y="4480560"/>
            <a:ext cx="1463039" cy="0"/>
          </a:xfrm>
          <a:prstGeom prst="straightConnector1">
            <a:avLst/>
          </a:prstGeom>
          <a:noFill/>
          <a:ln cap="flat" cmpd="sng" w="19050">
            <a:solidFill>
              <a:srgbClr val="B6C3D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2" name="Google Shape;182;p4"/>
          <p:cNvCxnSpPr>
            <a:stCxn id="173" idx="1"/>
          </p:cNvCxnSpPr>
          <p:nvPr/>
        </p:nvCxnSpPr>
        <p:spPr>
          <a:xfrm rot="10800000">
            <a:off x="7984440" y="2173860"/>
            <a:ext cx="1479600" cy="20700"/>
          </a:xfrm>
          <a:prstGeom prst="straightConnector1">
            <a:avLst/>
          </a:prstGeom>
          <a:noFill/>
          <a:ln cap="flat" cmpd="sng" w="19050">
            <a:solidFill>
              <a:srgbClr val="B6C3D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" name="Google Shape;183;p4"/>
          <p:cNvCxnSpPr>
            <a:stCxn id="175" idx="1"/>
            <a:endCxn id="164" idx="3"/>
          </p:cNvCxnSpPr>
          <p:nvPr/>
        </p:nvCxnSpPr>
        <p:spPr>
          <a:xfrm rot="10800000">
            <a:off x="7982940" y="3300960"/>
            <a:ext cx="1481100" cy="36600"/>
          </a:xfrm>
          <a:prstGeom prst="straightConnector1">
            <a:avLst/>
          </a:prstGeom>
          <a:noFill/>
          <a:ln cap="flat" cmpd="sng" w="19050">
            <a:solidFill>
              <a:srgbClr val="B6C3D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4" name="Google Shape;184;p4"/>
          <p:cNvCxnSpPr>
            <a:stCxn id="177" idx="1"/>
          </p:cNvCxnSpPr>
          <p:nvPr/>
        </p:nvCxnSpPr>
        <p:spPr>
          <a:xfrm rot="10800000">
            <a:off x="7984440" y="4466460"/>
            <a:ext cx="1479600" cy="14100"/>
          </a:xfrm>
          <a:prstGeom prst="straightConnector1">
            <a:avLst/>
          </a:prstGeom>
          <a:noFill/>
          <a:ln cap="flat" cmpd="sng" w="19050">
            <a:solidFill>
              <a:srgbClr val="B6C3D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5" name="Google Shape;185;p4"/>
          <p:cNvSpPr/>
          <p:nvPr/>
        </p:nvSpPr>
        <p:spPr>
          <a:xfrm>
            <a:off x="2971800" y="4892051"/>
            <a:ext cx="6241800" cy="133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3291840" y="504748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Propuesta de valor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3310128" y="53903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3511296" y="5340096"/>
            <a:ext cx="5349240" cy="252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Centralizar la información sin exigir GPS, sensores ni equipamiento adicional.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3310128" y="5637276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3511296" y="5586984"/>
            <a:ext cx="5349240" cy="252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Adaptarse a distintos tipos de transporte de pasajeros.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3310128" y="5884164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3511296" y="5833872"/>
            <a:ext cx="5349240" cy="252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Reducir olvidos y facilitar el control diario de la operación.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 txBox="1"/>
          <p:nvPr>
            <p:ph idx="4294967295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/>
          <p:nvPr/>
        </p:nvSpPr>
        <p:spPr>
          <a:xfrm>
            <a:off x="502920" y="25603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DIRECCIÓN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502920" y="57607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183153"/>
                </a:solidFill>
                <a:latin typeface="Play"/>
                <a:ea typeface="Play"/>
                <a:cs typeface="Play"/>
                <a:sym typeface="Play"/>
              </a:rPr>
              <a:t>Objetivos del proyecto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502920" y="10515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Qué buscamos lograr durante el desarrollo del MVP.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s1_img1.jpg" id="202" name="Google Shape;2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0" y="164592"/>
            <a:ext cx="242316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5"/>
          <p:cNvSpPr/>
          <p:nvPr/>
        </p:nvSpPr>
        <p:spPr>
          <a:xfrm>
            <a:off x="621792" y="1572768"/>
            <a:ext cx="10972800" cy="1298448"/>
          </a:xfrm>
          <a:prstGeom prst="rect">
            <a:avLst/>
          </a:prstGeom>
          <a:solidFill>
            <a:srgbClr val="183153"/>
          </a:solidFill>
          <a:ln cap="flat" cmpd="sng" w="1270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896112" y="1783080"/>
            <a:ext cx="1874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896112" y="2093976"/>
            <a:ext cx="100766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Arial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Desarrollar y validar una plataforma web simple para centralizar la gestión de vehículos, conductores, turnos, documentación e ingresos opcionales de pequeñas y medianas empresas de transporte de pasajeros.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713232" y="3218688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713257" y="3319207"/>
            <a:ext cx="384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1225296" y="3236976"/>
            <a:ext cx="482803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Analizar necesidades y procesos de gestión documental y operativa.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713232" y="3950208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713232" y="4050778"/>
            <a:ext cx="384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1225296" y="3968496"/>
            <a:ext cx="482803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Definir alcance, requisitos y responsabilidades del equipo.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713232" y="4681728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713225" y="4782250"/>
            <a:ext cx="384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1225296" y="4700016"/>
            <a:ext cx="482803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Evaluar y seleccionar infraestructura y tecnologías.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713232" y="5413248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713232" y="5513730"/>
            <a:ext cx="384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1225296" y="5431536"/>
            <a:ext cx="482803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Diseñar arquitectura, modelo de datos e interfaz adaptable.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6245352" y="3218688"/>
            <a:ext cx="384048" cy="38404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6245352" y="3319270"/>
            <a:ext cx="384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6757416" y="3236976"/>
            <a:ext cx="482803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Implementar vehículos, conductores, turnos, documentos, alertas e ingresos.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6245352" y="3950208"/>
            <a:ext cx="384048" cy="38404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6245377" y="4050715"/>
            <a:ext cx="384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6757416" y="3968496"/>
            <a:ext cx="482803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Realizar pruebas funcionales, seguridad, compatibilidad y usabilidad.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6245352" y="4681728"/>
            <a:ext cx="384048" cy="38404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6245377" y="4782185"/>
            <a:ext cx="384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6757416" y="4700016"/>
            <a:ext cx="482803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Documentar, desplegar y presentar la solución incorporando mejoras.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 txBox="1"/>
          <p:nvPr>
            <p:ph idx="4294967295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"/>
          <p:cNvSpPr/>
          <p:nvPr/>
        </p:nvSpPr>
        <p:spPr>
          <a:xfrm>
            <a:off x="502920" y="25603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02920" y="57607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183153"/>
                </a:solidFill>
                <a:latin typeface="Play"/>
                <a:ea typeface="Play"/>
                <a:cs typeface="Play"/>
                <a:sym typeface="Play"/>
              </a:rPr>
              <a:t>Alcances y limitaciones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502920" y="10515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El MVP se concentra en resolver el problema administrativo central sin aumentar innecesariamente la complejidad.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s1_img1.jpg" id="236" name="Google Shape;2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0" y="164592"/>
            <a:ext cx="242316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6"/>
          <p:cNvSpPr/>
          <p:nvPr/>
        </p:nvSpPr>
        <p:spPr>
          <a:xfrm>
            <a:off x="621792" y="1627632"/>
            <a:ext cx="5285100" cy="4498800"/>
          </a:xfrm>
          <a:prstGeom prst="rect">
            <a:avLst/>
          </a:prstGeom>
          <a:solidFill>
            <a:srgbClr val="F7FBFF"/>
          </a:solidFill>
          <a:ln cap="flat" cmpd="sng" w="12700">
            <a:solidFill>
              <a:srgbClr val="D7E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932688" y="1874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Alcances del MVP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950976" y="24048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1115456" y="22230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Plataforma web responsive para computador y teléfono.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950976" y="29001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1115456" y="27183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Gestión de vehículos, conductores y documentación.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950976" y="33954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1115456" y="32136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Organización de turnos y alertas de vencimiento.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950976" y="38907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1115456" y="37089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Módulo de ingresos opcional según el tipo de empresa.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950976" y="43860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1115456" y="42042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Orientación a distintas PYMEs de transporte de pasajeros.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950976" y="48813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1115456" y="46995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Pruebas, documentación y despliegue del MVP.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6272784" y="1627632"/>
            <a:ext cx="5303520" cy="4498848"/>
          </a:xfrm>
          <a:prstGeom prst="rect">
            <a:avLst/>
          </a:prstGeom>
          <a:solidFill>
            <a:srgbClr val="FFF9F9"/>
          </a:solidFill>
          <a:ln cap="flat" cmpd="sng" w="12700">
            <a:solidFill>
              <a:srgbClr val="F2D3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6583680" y="1874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Limitaciones iniciales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6601968" y="2404872"/>
            <a:ext cx="91440" cy="914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6775698" y="222314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No requiere GPS, sensores ni hardware instalado en los vehículos.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6601968" y="2999232"/>
            <a:ext cx="91440" cy="914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6775698" y="281750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No contempla seguimiento de rutas en tiempo real en el MVP.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6601968" y="3593592"/>
            <a:ext cx="91440" cy="914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6775698" y="341186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El foco es web responsive; una app móvil nativa queda fuera del alcance inicial.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6601968" y="4187952"/>
            <a:ext cx="91440" cy="914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6775698" y="400622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Funciones avanzadas de IA o analítica quedan como mejora futura.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6601968" y="4782312"/>
            <a:ext cx="91440" cy="914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775698" y="460058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Las tecnologías definitivas se seleccionan tras comparar costo, seguridad y facilidad de implementación.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 txBox="1"/>
          <p:nvPr>
            <p:ph idx="4294967295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/>
          <p:nvPr/>
        </p:nvSpPr>
        <p:spPr>
          <a:xfrm>
            <a:off x="502920" y="25603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FACTIBILIDAD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502920" y="57607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183153"/>
                </a:solidFill>
                <a:latin typeface="Play"/>
                <a:ea typeface="Play"/>
                <a:cs typeface="Play"/>
                <a:sym typeface="Play"/>
              </a:rPr>
              <a:t>Factibilidad y gestión de riesgos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502920" y="10515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El proyecto es abordable en el semestre como MVP; los riesgos se gestionan trabajando por etapas.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s1_img1.jpg" id="271" name="Google Shape;2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0" y="164592"/>
            <a:ext cx="242316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6"/>
          <p:cNvSpPr/>
          <p:nvPr/>
        </p:nvSpPr>
        <p:spPr>
          <a:xfrm>
            <a:off x="621792" y="1627632"/>
            <a:ext cx="5285100" cy="4498800"/>
          </a:xfrm>
          <a:prstGeom prst="rect">
            <a:avLst/>
          </a:prstGeom>
          <a:solidFill>
            <a:srgbClr val="F7FBFF"/>
          </a:solidFill>
          <a:ln cap="flat" cmpd="sng" w="12700">
            <a:solidFill>
              <a:srgbClr val="D7E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932688" y="1874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Por qué es factible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950976" y="24048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1115456" y="22230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Se aborda como un producto mínimo viable, por etapas cortas.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950976" y="29001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1115456" y="27183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No requiere GPS ni dispositivos instalados en vehículos.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950976" y="33954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1115456" y="32136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Reduce costos y dependencias externas de hardware.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950976" y="38907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1115456" y="37089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Tecnologías se eligen tras comparar costo, seguridad y facilidad de implementación.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950976" y="43860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1115456" y="42042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Recursos: Guía APT, entrevistas, herramientas de planificación y prototipado, y asesoría docente.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950976" y="4881372"/>
            <a:ext cx="91500" cy="915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1115456" y="4699520"/>
            <a:ext cx="4297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Roles definidos según habilidades e intereses de cada integrante.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6272784" y="1627632"/>
            <a:ext cx="5303520" cy="4498848"/>
          </a:xfrm>
          <a:prstGeom prst="rect">
            <a:avLst/>
          </a:prstGeom>
          <a:solidFill>
            <a:srgbClr val="FFF9F9"/>
          </a:solidFill>
          <a:ln cap="flat" cmpd="sng" w="12700">
            <a:solidFill>
              <a:srgbClr val="F2D3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6583680" y="1874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Riesgos y mitigación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6601968" y="2404872"/>
            <a:ext cx="91440" cy="914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6775698" y="222314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Ampliar demasiado el alcance → mitigar priorizando funciones esenciales del MVP.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6601968" y="2999232"/>
            <a:ext cx="91440" cy="914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6775698" y="281750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Definir tardíamente las responsabilidades → asignar roles desde las primeras semanas.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6601968" y="3593592"/>
            <a:ext cx="91440" cy="914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6775698" y="341186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No contar con usuarios para validar la idea → buscar entrevistas y retroalimentación temprana.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6601968" y="4187952"/>
            <a:ext cx="91440" cy="914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6775698" y="400622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Elegir tecnologías poco adecuadas → comparar alternativas antes de decidir.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6601968" y="4782312"/>
            <a:ext cx="91440" cy="914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6775698" y="4600585"/>
            <a:ext cx="4297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Facilitador clave: metodología ágil con revisión constante del avance.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6"/>
          <p:cNvSpPr txBox="1"/>
          <p:nvPr>
            <p:ph idx="4294967295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/>
          <p:nvPr/>
        </p:nvSpPr>
        <p:spPr>
          <a:xfrm>
            <a:off x="502920" y="25603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502920" y="57607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183153"/>
                </a:solidFill>
                <a:latin typeface="Play"/>
                <a:ea typeface="Play"/>
                <a:cs typeface="Play"/>
                <a:sym typeface="Play"/>
              </a:rPr>
              <a:t>Ágil e incremental, basada en principios de Scrum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502920" y="10515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Trabajo por iteraciones cortas, revisión continua y priorización de las funciones esenciales del MVP.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s1_img1.jpg" id="307" name="Google Shape;3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0" y="164592"/>
            <a:ext cx="242316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7"/>
          <p:cNvSpPr/>
          <p:nvPr/>
        </p:nvSpPr>
        <p:spPr>
          <a:xfrm>
            <a:off x="1106424" y="1938528"/>
            <a:ext cx="585216" cy="58521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1106424" y="2084832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749808" y="2761488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676656" y="3090672"/>
            <a:ext cx="14447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Problema y usuarios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p7"/>
          <p:cNvCxnSpPr/>
          <p:nvPr/>
        </p:nvCxnSpPr>
        <p:spPr>
          <a:xfrm>
            <a:off x="1865376" y="2231136"/>
            <a:ext cx="566928" cy="0"/>
          </a:xfrm>
          <a:prstGeom prst="straightConnector1">
            <a:avLst/>
          </a:prstGeom>
          <a:noFill/>
          <a:ln cap="flat" cmpd="sng" w="16500">
            <a:solidFill>
              <a:srgbClr val="B4C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3" name="Google Shape;313;p7"/>
          <p:cNvSpPr/>
          <p:nvPr/>
        </p:nvSpPr>
        <p:spPr>
          <a:xfrm>
            <a:off x="3008376" y="1938528"/>
            <a:ext cx="585216" cy="58521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3008376" y="2084832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2651760" y="2761488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Definir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2578608" y="3090672"/>
            <a:ext cx="14447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Requisitos y alcance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7"/>
          <p:cNvCxnSpPr/>
          <p:nvPr/>
        </p:nvCxnSpPr>
        <p:spPr>
          <a:xfrm>
            <a:off x="3767328" y="2231136"/>
            <a:ext cx="566928" cy="0"/>
          </a:xfrm>
          <a:prstGeom prst="straightConnector1">
            <a:avLst/>
          </a:prstGeom>
          <a:noFill/>
          <a:ln cap="flat" cmpd="sng" w="16500">
            <a:solidFill>
              <a:srgbClr val="B4C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p7"/>
          <p:cNvSpPr/>
          <p:nvPr/>
        </p:nvSpPr>
        <p:spPr>
          <a:xfrm>
            <a:off x="4910328" y="1938528"/>
            <a:ext cx="585216" cy="58521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4910328" y="2084832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4553712" y="2761488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Diseñar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4480560" y="3090672"/>
            <a:ext cx="14447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Arquitectura y datos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p7"/>
          <p:cNvCxnSpPr/>
          <p:nvPr/>
        </p:nvCxnSpPr>
        <p:spPr>
          <a:xfrm>
            <a:off x="5669280" y="2231136"/>
            <a:ext cx="566928" cy="0"/>
          </a:xfrm>
          <a:prstGeom prst="straightConnector1">
            <a:avLst/>
          </a:prstGeom>
          <a:noFill/>
          <a:ln cap="flat" cmpd="sng" w="16500">
            <a:solidFill>
              <a:srgbClr val="B4C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3" name="Google Shape;323;p7"/>
          <p:cNvSpPr/>
          <p:nvPr/>
        </p:nvSpPr>
        <p:spPr>
          <a:xfrm>
            <a:off x="6812280" y="1938528"/>
            <a:ext cx="585216" cy="585216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6812280" y="2084832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6455664" y="2761488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Construir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6382512" y="3090672"/>
            <a:ext cx="14447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MVP incremental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7"/>
          <p:cNvCxnSpPr/>
          <p:nvPr/>
        </p:nvCxnSpPr>
        <p:spPr>
          <a:xfrm>
            <a:off x="7571232" y="2231136"/>
            <a:ext cx="566928" cy="0"/>
          </a:xfrm>
          <a:prstGeom prst="straightConnector1">
            <a:avLst/>
          </a:prstGeom>
          <a:noFill/>
          <a:ln cap="flat" cmpd="sng" w="16500">
            <a:solidFill>
              <a:srgbClr val="B4C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8" name="Google Shape;328;p7"/>
          <p:cNvSpPr/>
          <p:nvPr/>
        </p:nvSpPr>
        <p:spPr>
          <a:xfrm>
            <a:off x="8714232" y="1938528"/>
            <a:ext cx="585216" cy="585216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8714232" y="2084832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8357616" y="2761488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Probar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8284464" y="3090672"/>
            <a:ext cx="14447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Calidad y seguridad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7"/>
          <p:cNvCxnSpPr/>
          <p:nvPr/>
        </p:nvCxnSpPr>
        <p:spPr>
          <a:xfrm>
            <a:off x="9473184" y="2231136"/>
            <a:ext cx="566928" cy="0"/>
          </a:xfrm>
          <a:prstGeom prst="straightConnector1">
            <a:avLst/>
          </a:prstGeom>
          <a:noFill/>
          <a:ln cap="flat" cmpd="sng" w="16500">
            <a:solidFill>
              <a:srgbClr val="B4C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3" name="Google Shape;333;p7"/>
          <p:cNvSpPr/>
          <p:nvPr/>
        </p:nvSpPr>
        <p:spPr>
          <a:xfrm>
            <a:off x="10616184" y="1938528"/>
            <a:ext cx="585216" cy="585216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10616184" y="2084832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10259568" y="2761488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Mejorar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10186416" y="3090672"/>
            <a:ext cx="14447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Correcciones y cierre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7"/>
          <p:cNvCxnSpPr/>
          <p:nvPr/>
        </p:nvCxnSpPr>
        <p:spPr>
          <a:xfrm>
            <a:off x="731520" y="3840480"/>
            <a:ext cx="10744200" cy="0"/>
          </a:xfrm>
          <a:prstGeom prst="straightConnector1">
            <a:avLst/>
          </a:prstGeom>
          <a:noFill/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7"/>
          <p:cNvSpPr/>
          <p:nvPr/>
        </p:nvSpPr>
        <p:spPr>
          <a:xfrm>
            <a:off x="777240" y="4169664"/>
            <a:ext cx="3255264" cy="120700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941832" y="4370832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Joaquín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1828800" y="4370832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Product Owner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941832" y="4764024"/>
            <a:ext cx="2880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Requisitos · prioridad · validación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4526280" y="4169664"/>
            <a:ext cx="3255264" cy="120700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4690872" y="4370832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José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5577840" y="4370832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4690872" y="4764024"/>
            <a:ext cx="2880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Backend · datos · integración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8275320" y="4169664"/>
            <a:ext cx="3255264" cy="120700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8439912" y="4370832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Simón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9326880" y="4370832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Scrum Master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8439912" y="4764024"/>
            <a:ext cx="2880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Seguimiento · seguridad · pruebas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914400" y="5687568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Las responsabilidades pueden ajustarse según el avance del proyecto y las necesidades de cada iteración.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7"/>
          <p:cNvSpPr txBox="1"/>
          <p:nvPr>
            <p:ph idx="4294967295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"/>
          <p:cNvSpPr/>
          <p:nvPr/>
        </p:nvSpPr>
        <p:spPr>
          <a:xfrm>
            <a:off x="502920" y="25603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502920" y="57607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183153"/>
                </a:solidFill>
                <a:latin typeface="Play"/>
                <a:ea typeface="Play"/>
                <a:cs typeface="Play"/>
                <a:sym typeface="Play"/>
              </a:rPr>
              <a:t>Cronograma de desarrollo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502920" y="10515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18 semanas distribuidas en tres fases, con actividades que se solapan para mantener continuidad.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s1_img1.jpg" id="360" name="Google Shape;3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0" y="164592"/>
            <a:ext cx="242316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8"/>
          <p:cNvSpPr/>
          <p:nvPr/>
        </p:nvSpPr>
        <p:spPr>
          <a:xfrm>
            <a:off x="2267712" y="1517904"/>
            <a:ext cx="1901952" cy="310896"/>
          </a:xfrm>
          <a:prstGeom prst="rect">
            <a:avLst/>
          </a:prstGeom>
          <a:solidFill>
            <a:srgbClr val="EAF7EF"/>
          </a:solidFill>
          <a:ln cap="flat" cmpd="sng" w="9525">
            <a:solidFill>
              <a:srgbClr val="C9D3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2267712" y="1572768"/>
            <a:ext cx="19019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4169664" y="1517904"/>
            <a:ext cx="5230368" cy="310896"/>
          </a:xfrm>
          <a:prstGeom prst="rect">
            <a:avLst/>
          </a:prstGeom>
          <a:solidFill>
            <a:srgbClr val="FFF6D9"/>
          </a:solidFill>
          <a:ln cap="flat" cmpd="sng" w="9525">
            <a:solidFill>
              <a:srgbClr val="C9D3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4169664" y="1572768"/>
            <a:ext cx="5230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9400032" y="1517904"/>
            <a:ext cx="1426464" cy="310896"/>
          </a:xfrm>
          <a:prstGeom prst="rect">
            <a:avLst/>
          </a:prstGeom>
          <a:solidFill>
            <a:srgbClr val="FDECEC"/>
          </a:solidFill>
          <a:ln cap="flat" cmpd="sng" w="9525">
            <a:solidFill>
              <a:srgbClr val="C9D3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9400032" y="1572768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FASE 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2267712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2267712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2743200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2743200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3218688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3218688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3694176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3694176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S4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4169664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4169664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S5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4645152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4645152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5120640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5120640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5596128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5596128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S8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6071616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6071616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S9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6547104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6547104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S10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7022592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7022592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S11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7498080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7498080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S12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7973568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7973568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S13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8449056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8"/>
          <p:cNvSpPr/>
          <p:nvPr/>
        </p:nvSpPr>
        <p:spPr>
          <a:xfrm>
            <a:off x="8449056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S14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8924544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8924544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S15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9400032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9400032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S16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9875520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9875520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S17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10351008" y="1920240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7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10351008" y="2020824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S18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658368" y="2404872"/>
            <a:ext cx="14813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Validación de la idea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2267712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2313432" y="2441448"/>
            <a:ext cx="384048" cy="219456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2743200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2788920" y="2441448"/>
            <a:ext cx="384048" cy="219456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3218688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3264408" y="2441448"/>
            <a:ext cx="384048" cy="219456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3694176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4169664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4645152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5120640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5596128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8"/>
          <p:cNvSpPr/>
          <p:nvPr/>
        </p:nvSpPr>
        <p:spPr>
          <a:xfrm>
            <a:off x="6071616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8"/>
          <p:cNvSpPr/>
          <p:nvPr/>
        </p:nvSpPr>
        <p:spPr>
          <a:xfrm>
            <a:off x="6547104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7022592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7498080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7973568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8449056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8"/>
          <p:cNvSpPr/>
          <p:nvPr/>
        </p:nvSpPr>
        <p:spPr>
          <a:xfrm>
            <a:off x="8924544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9400032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9875520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10351008" y="23042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8"/>
          <p:cNvSpPr/>
          <p:nvPr/>
        </p:nvSpPr>
        <p:spPr>
          <a:xfrm>
            <a:off x="658368" y="2907792"/>
            <a:ext cx="14813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Organización y roles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2267712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8"/>
          <p:cNvSpPr/>
          <p:nvPr/>
        </p:nvSpPr>
        <p:spPr>
          <a:xfrm>
            <a:off x="2313432" y="2944368"/>
            <a:ext cx="384048" cy="21945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2743200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8"/>
          <p:cNvSpPr/>
          <p:nvPr/>
        </p:nvSpPr>
        <p:spPr>
          <a:xfrm>
            <a:off x="2788920" y="2944368"/>
            <a:ext cx="384048" cy="21945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8"/>
          <p:cNvSpPr/>
          <p:nvPr/>
        </p:nvSpPr>
        <p:spPr>
          <a:xfrm>
            <a:off x="3218688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8"/>
          <p:cNvSpPr/>
          <p:nvPr/>
        </p:nvSpPr>
        <p:spPr>
          <a:xfrm>
            <a:off x="3264408" y="2944368"/>
            <a:ext cx="384048" cy="21945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8"/>
          <p:cNvSpPr/>
          <p:nvPr/>
        </p:nvSpPr>
        <p:spPr>
          <a:xfrm>
            <a:off x="3694176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8"/>
          <p:cNvSpPr/>
          <p:nvPr/>
        </p:nvSpPr>
        <p:spPr>
          <a:xfrm>
            <a:off x="3739896" y="2944368"/>
            <a:ext cx="384048" cy="21945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4169664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8"/>
          <p:cNvSpPr/>
          <p:nvPr/>
        </p:nvSpPr>
        <p:spPr>
          <a:xfrm>
            <a:off x="4645152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5120640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8"/>
          <p:cNvSpPr/>
          <p:nvPr/>
        </p:nvSpPr>
        <p:spPr>
          <a:xfrm>
            <a:off x="5596128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6071616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8"/>
          <p:cNvSpPr/>
          <p:nvPr/>
        </p:nvSpPr>
        <p:spPr>
          <a:xfrm>
            <a:off x="6547104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7022592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8"/>
          <p:cNvSpPr/>
          <p:nvPr/>
        </p:nvSpPr>
        <p:spPr>
          <a:xfrm>
            <a:off x="7498080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8"/>
          <p:cNvSpPr/>
          <p:nvPr/>
        </p:nvSpPr>
        <p:spPr>
          <a:xfrm>
            <a:off x="7973568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8449056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8"/>
          <p:cNvSpPr/>
          <p:nvPr/>
        </p:nvSpPr>
        <p:spPr>
          <a:xfrm>
            <a:off x="8924544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9400032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9875520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8"/>
          <p:cNvSpPr/>
          <p:nvPr/>
        </p:nvSpPr>
        <p:spPr>
          <a:xfrm>
            <a:off x="10351008" y="280720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8"/>
          <p:cNvSpPr/>
          <p:nvPr/>
        </p:nvSpPr>
        <p:spPr>
          <a:xfrm>
            <a:off x="658368" y="3410712"/>
            <a:ext cx="14813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Evaluación técnica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2267712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2743200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3218688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3264408" y="3447288"/>
            <a:ext cx="384048" cy="21945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3694176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3739896" y="3447288"/>
            <a:ext cx="384048" cy="21945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4169664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4215384" y="3447288"/>
            <a:ext cx="384048" cy="21945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4645152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4690872" y="3447288"/>
            <a:ext cx="384048" cy="21945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5120640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5596128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6071616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6547104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7022592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7498080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7973568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8"/>
          <p:cNvSpPr/>
          <p:nvPr/>
        </p:nvSpPr>
        <p:spPr>
          <a:xfrm>
            <a:off x="8449056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8924544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8"/>
          <p:cNvSpPr/>
          <p:nvPr/>
        </p:nvSpPr>
        <p:spPr>
          <a:xfrm>
            <a:off x="9400032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8"/>
          <p:cNvSpPr/>
          <p:nvPr/>
        </p:nvSpPr>
        <p:spPr>
          <a:xfrm>
            <a:off x="9875520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8"/>
          <p:cNvSpPr/>
          <p:nvPr/>
        </p:nvSpPr>
        <p:spPr>
          <a:xfrm>
            <a:off x="10351008" y="331012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8"/>
          <p:cNvSpPr/>
          <p:nvPr/>
        </p:nvSpPr>
        <p:spPr>
          <a:xfrm>
            <a:off x="658368" y="3913632"/>
            <a:ext cx="14813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Diseño de la solución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8"/>
          <p:cNvSpPr/>
          <p:nvPr/>
        </p:nvSpPr>
        <p:spPr>
          <a:xfrm>
            <a:off x="2267712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2743200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8"/>
          <p:cNvSpPr/>
          <p:nvPr/>
        </p:nvSpPr>
        <p:spPr>
          <a:xfrm>
            <a:off x="3218688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8"/>
          <p:cNvSpPr/>
          <p:nvPr/>
        </p:nvSpPr>
        <p:spPr>
          <a:xfrm>
            <a:off x="3694176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8"/>
          <p:cNvSpPr/>
          <p:nvPr/>
        </p:nvSpPr>
        <p:spPr>
          <a:xfrm>
            <a:off x="3739896" y="3950208"/>
            <a:ext cx="384048" cy="21945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8"/>
          <p:cNvSpPr/>
          <p:nvPr/>
        </p:nvSpPr>
        <p:spPr>
          <a:xfrm>
            <a:off x="4169664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4215384" y="3950208"/>
            <a:ext cx="384048" cy="21945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8"/>
          <p:cNvSpPr/>
          <p:nvPr/>
        </p:nvSpPr>
        <p:spPr>
          <a:xfrm>
            <a:off x="4645152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8"/>
          <p:cNvSpPr/>
          <p:nvPr/>
        </p:nvSpPr>
        <p:spPr>
          <a:xfrm>
            <a:off x="4690872" y="3950208"/>
            <a:ext cx="384048" cy="21945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8"/>
          <p:cNvSpPr/>
          <p:nvPr/>
        </p:nvSpPr>
        <p:spPr>
          <a:xfrm>
            <a:off x="5120640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5166360" y="3950208"/>
            <a:ext cx="384048" cy="21945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8"/>
          <p:cNvSpPr/>
          <p:nvPr/>
        </p:nvSpPr>
        <p:spPr>
          <a:xfrm>
            <a:off x="5596128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8"/>
          <p:cNvSpPr/>
          <p:nvPr/>
        </p:nvSpPr>
        <p:spPr>
          <a:xfrm>
            <a:off x="5641848" y="3950208"/>
            <a:ext cx="384048" cy="21945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8"/>
          <p:cNvSpPr/>
          <p:nvPr/>
        </p:nvSpPr>
        <p:spPr>
          <a:xfrm>
            <a:off x="6071616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8"/>
          <p:cNvSpPr/>
          <p:nvPr/>
        </p:nvSpPr>
        <p:spPr>
          <a:xfrm>
            <a:off x="6547104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8"/>
          <p:cNvSpPr/>
          <p:nvPr/>
        </p:nvSpPr>
        <p:spPr>
          <a:xfrm>
            <a:off x="7022592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8"/>
          <p:cNvSpPr/>
          <p:nvPr/>
        </p:nvSpPr>
        <p:spPr>
          <a:xfrm>
            <a:off x="7498080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8"/>
          <p:cNvSpPr/>
          <p:nvPr/>
        </p:nvSpPr>
        <p:spPr>
          <a:xfrm>
            <a:off x="7973568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8449056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8"/>
          <p:cNvSpPr/>
          <p:nvPr/>
        </p:nvSpPr>
        <p:spPr>
          <a:xfrm>
            <a:off x="8924544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8"/>
          <p:cNvSpPr/>
          <p:nvPr/>
        </p:nvSpPr>
        <p:spPr>
          <a:xfrm>
            <a:off x="9400032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8"/>
          <p:cNvSpPr/>
          <p:nvPr/>
        </p:nvSpPr>
        <p:spPr>
          <a:xfrm>
            <a:off x="9875520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8"/>
          <p:cNvSpPr/>
          <p:nvPr/>
        </p:nvSpPr>
        <p:spPr>
          <a:xfrm>
            <a:off x="10351008" y="381304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8"/>
          <p:cNvSpPr/>
          <p:nvPr/>
        </p:nvSpPr>
        <p:spPr>
          <a:xfrm>
            <a:off x="658368" y="4416552"/>
            <a:ext cx="14813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Construcción del MVP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8"/>
          <p:cNvSpPr/>
          <p:nvPr/>
        </p:nvSpPr>
        <p:spPr>
          <a:xfrm>
            <a:off x="2267712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8"/>
          <p:cNvSpPr/>
          <p:nvPr/>
        </p:nvSpPr>
        <p:spPr>
          <a:xfrm>
            <a:off x="2743200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3218688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8"/>
          <p:cNvSpPr/>
          <p:nvPr/>
        </p:nvSpPr>
        <p:spPr>
          <a:xfrm>
            <a:off x="3694176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8"/>
          <p:cNvSpPr/>
          <p:nvPr/>
        </p:nvSpPr>
        <p:spPr>
          <a:xfrm>
            <a:off x="4169664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8"/>
          <p:cNvSpPr/>
          <p:nvPr/>
        </p:nvSpPr>
        <p:spPr>
          <a:xfrm>
            <a:off x="4645152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8"/>
          <p:cNvSpPr/>
          <p:nvPr/>
        </p:nvSpPr>
        <p:spPr>
          <a:xfrm>
            <a:off x="5120640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8"/>
          <p:cNvSpPr/>
          <p:nvPr/>
        </p:nvSpPr>
        <p:spPr>
          <a:xfrm>
            <a:off x="5166360" y="4453128"/>
            <a:ext cx="384048" cy="219456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8"/>
          <p:cNvSpPr/>
          <p:nvPr/>
        </p:nvSpPr>
        <p:spPr>
          <a:xfrm>
            <a:off x="5596128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8"/>
          <p:cNvSpPr/>
          <p:nvPr/>
        </p:nvSpPr>
        <p:spPr>
          <a:xfrm>
            <a:off x="5641848" y="4453128"/>
            <a:ext cx="384048" cy="219456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8"/>
          <p:cNvSpPr/>
          <p:nvPr/>
        </p:nvSpPr>
        <p:spPr>
          <a:xfrm>
            <a:off x="6071616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8"/>
          <p:cNvSpPr/>
          <p:nvPr/>
        </p:nvSpPr>
        <p:spPr>
          <a:xfrm>
            <a:off x="6117336" y="4453128"/>
            <a:ext cx="384048" cy="219456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8"/>
          <p:cNvSpPr/>
          <p:nvPr/>
        </p:nvSpPr>
        <p:spPr>
          <a:xfrm>
            <a:off x="6547104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8"/>
          <p:cNvSpPr/>
          <p:nvPr/>
        </p:nvSpPr>
        <p:spPr>
          <a:xfrm>
            <a:off x="6592824" y="4453128"/>
            <a:ext cx="384048" cy="219456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8"/>
          <p:cNvSpPr/>
          <p:nvPr/>
        </p:nvSpPr>
        <p:spPr>
          <a:xfrm>
            <a:off x="7022592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8"/>
          <p:cNvSpPr/>
          <p:nvPr/>
        </p:nvSpPr>
        <p:spPr>
          <a:xfrm>
            <a:off x="7068312" y="4453128"/>
            <a:ext cx="384048" cy="219456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8"/>
          <p:cNvSpPr/>
          <p:nvPr/>
        </p:nvSpPr>
        <p:spPr>
          <a:xfrm>
            <a:off x="7498080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8"/>
          <p:cNvSpPr/>
          <p:nvPr/>
        </p:nvSpPr>
        <p:spPr>
          <a:xfrm>
            <a:off x="7543800" y="4453128"/>
            <a:ext cx="384048" cy="219456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8"/>
          <p:cNvSpPr/>
          <p:nvPr/>
        </p:nvSpPr>
        <p:spPr>
          <a:xfrm>
            <a:off x="7973568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8"/>
          <p:cNvSpPr/>
          <p:nvPr/>
        </p:nvSpPr>
        <p:spPr>
          <a:xfrm>
            <a:off x="8019288" y="4453128"/>
            <a:ext cx="384048" cy="219456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8"/>
          <p:cNvSpPr/>
          <p:nvPr/>
        </p:nvSpPr>
        <p:spPr>
          <a:xfrm>
            <a:off x="8449056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8"/>
          <p:cNvSpPr/>
          <p:nvPr/>
        </p:nvSpPr>
        <p:spPr>
          <a:xfrm>
            <a:off x="8494776" y="4453128"/>
            <a:ext cx="384048" cy="219456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8"/>
          <p:cNvSpPr/>
          <p:nvPr/>
        </p:nvSpPr>
        <p:spPr>
          <a:xfrm>
            <a:off x="8924544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8"/>
          <p:cNvSpPr/>
          <p:nvPr/>
        </p:nvSpPr>
        <p:spPr>
          <a:xfrm>
            <a:off x="9400032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8"/>
          <p:cNvSpPr/>
          <p:nvPr/>
        </p:nvSpPr>
        <p:spPr>
          <a:xfrm>
            <a:off x="9875520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8"/>
          <p:cNvSpPr/>
          <p:nvPr/>
        </p:nvSpPr>
        <p:spPr>
          <a:xfrm>
            <a:off x="10351008" y="431596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8"/>
          <p:cNvSpPr/>
          <p:nvPr/>
        </p:nvSpPr>
        <p:spPr>
          <a:xfrm>
            <a:off x="658368" y="4919472"/>
            <a:ext cx="14813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Pruebas y cierre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8"/>
          <p:cNvSpPr/>
          <p:nvPr/>
        </p:nvSpPr>
        <p:spPr>
          <a:xfrm>
            <a:off x="2267712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8"/>
          <p:cNvSpPr/>
          <p:nvPr/>
        </p:nvSpPr>
        <p:spPr>
          <a:xfrm>
            <a:off x="2743200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8"/>
          <p:cNvSpPr/>
          <p:nvPr/>
        </p:nvSpPr>
        <p:spPr>
          <a:xfrm>
            <a:off x="3218688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8"/>
          <p:cNvSpPr/>
          <p:nvPr/>
        </p:nvSpPr>
        <p:spPr>
          <a:xfrm>
            <a:off x="3694176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8"/>
          <p:cNvSpPr/>
          <p:nvPr/>
        </p:nvSpPr>
        <p:spPr>
          <a:xfrm>
            <a:off x="4169664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8"/>
          <p:cNvSpPr/>
          <p:nvPr/>
        </p:nvSpPr>
        <p:spPr>
          <a:xfrm>
            <a:off x="4645152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8"/>
          <p:cNvSpPr/>
          <p:nvPr/>
        </p:nvSpPr>
        <p:spPr>
          <a:xfrm>
            <a:off x="5120640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8"/>
          <p:cNvSpPr/>
          <p:nvPr/>
        </p:nvSpPr>
        <p:spPr>
          <a:xfrm>
            <a:off x="5596128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8"/>
          <p:cNvSpPr/>
          <p:nvPr/>
        </p:nvSpPr>
        <p:spPr>
          <a:xfrm>
            <a:off x="6071616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8"/>
          <p:cNvSpPr/>
          <p:nvPr/>
        </p:nvSpPr>
        <p:spPr>
          <a:xfrm>
            <a:off x="6547104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8"/>
          <p:cNvSpPr/>
          <p:nvPr/>
        </p:nvSpPr>
        <p:spPr>
          <a:xfrm>
            <a:off x="7022592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8"/>
          <p:cNvSpPr/>
          <p:nvPr/>
        </p:nvSpPr>
        <p:spPr>
          <a:xfrm>
            <a:off x="7498080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8"/>
          <p:cNvSpPr/>
          <p:nvPr/>
        </p:nvSpPr>
        <p:spPr>
          <a:xfrm>
            <a:off x="7973568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8"/>
          <p:cNvSpPr/>
          <p:nvPr/>
        </p:nvSpPr>
        <p:spPr>
          <a:xfrm>
            <a:off x="8019288" y="4956048"/>
            <a:ext cx="384048" cy="219456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8"/>
          <p:cNvSpPr/>
          <p:nvPr/>
        </p:nvSpPr>
        <p:spPr>
          <a:xfrm>
            <a:off x="8449056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8"/>
          <p:cNvSpPr/>
          <p:nvPr/>
        </p:nvSpPr>
        <p:spPr>
          <a:xfrm>
            <a:off x="8494776" y="4956048"/>
            <a:ext cx="384048" cy="219456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8"/>
          <p:cNvSpPr/>
          <p:nvPr/>
        </p:nvSpPr>
        <p:spPr>
          <a:xfrm>
            <a:off x="8924544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8"/>
          <p:cNvSpPr/>
          <p:nvPr/>
        </p:nvSpPr>
        <p:spPr>
          <a:xfrm>
            <a:off x="8970264" y="4956048"/>
            <a:ext cx="384048" cy="219456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8"/>
          <p:cNvSpPr/>
          <p:nvPr/>
        </p:nvSpPr>
        <p:spPr>
          <a:xfrm>
            <a:off x="9400032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8"/>
          <p:cNvSpPr/>
          <p:nvPr/>
        </p:nvSpPr>
        <p:spPr>
          <a:xfrm>
            <a:off x="9445752" y="4956048"/>
            <a:ext cx="384048" cy="219456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8"/>
          <p:cNvSpPr/>
          <p:nvPr/>
        </p:nvSpPr>
        <p:spPr>
          <a:xfrm>
            <a:off x="9875520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8"/>
          <p:cNvSpPr/>
          <p:nvPr/>
        </p:nvSpPr>
        <p:spPr>
          <a:xfrm>
            <a:off x="9921240" y="4956048"/>
            <a:ext cx="384048" cy="219456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8"/>
          <p:cNvSpPr/>
          <p:nvPr/>
        </p:nvSpPr>
        <p:spPr>
          <a:xfrm>
            <a:off x="10351008" y="4818888"/>
            <a:ext cx="475488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8"/>
          <p:cNvSpPr/>
          <p:nvPr/>
        </p:nvSpPr>
        <p:spPr>
          <a:xfrm>
            <a:off x="10396728" y="4956048"/>
            <a:ext cx="384048" cy="219456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8"/>
          <p:cNvSpPr/>
          <p:nvPr/>
        </p:nvSpPr>
        <p:spPr>
          <a:xfrm>
            <a:off x="658368" y="55046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Hitos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8"/>
          <p:cNvSpPr/>
          <p:nvPr/>
        </p:nvSpPr>
        <p:spPr>
          <a:xfrm>
            <a:off x="1417320" y="5431536"/>
            <a:ext cx="566928" cy="310896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8"/>
          <p:cNvSpPr/>
          <p:nvPr/>
        </p:nvSpPr>
        <p:spPr>
          <a:xfrm>
            <a:off x="1490472" y="5481828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8"/>
          <p:cNvSpPr/>
          <p:nvPr/>
        </p:nvSpPr>
        <p:spPr>
          <a:xfrm>
            <a:off x="2075688" y="5486400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Idea validada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8"/>
          <p:cNvSpPr/>
          <p:nvPr/>
        </p:nvSpPr>
        <p:spPr>
          <a:xfrm>
            <a:off x="3840480" y="5431536"/>
            <a:ext cx="566928" cy="310896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8"/>
          <p:cNvSpPr/>
          <p:nvPr/>
        </p:nvSpPr>
        <p:spPr>
          <a:xfrm>
            <a:off x="3913632" y="5481828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S6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8"/>
          <p:cNvSpPr/>
          <p:nvPr/>
        </p:nvSpPr>
        <p:spPr>
          <a:xfrm>
            <a:off x="4498848" y="5486400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Stack definido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8"/>
          <p:cNvSpPr/>
          <p:nvPr/>
        </p:nvSpPr>
        <p:spPr>
          <a:xfrm>
            <a:off x="6263640" y="5431536"/>
            <a:ext cx="566928" cy="310896"/>
          </a:xfrm>
          <a:prstGeom prst="rect">
            <a:avLst/>
          </a:prstGeom>
          <a:solidFill>
            <a:srgbClr val="FFF7E6"/>
          </a:solidFill>
          <a:ln cap="flat" cmpd="sng" w="12700">
            <a:solidFill>
              <a:srgbClr val="FFF7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8"/>
          <p:cNvSpPr/>
          <p:nvPr/>
        </p:nvSpPr>
        <p:spPr>
          <a:xfrm>
            <a:off x="6336792" y="5481828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S14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8"/>
          <p:cNvSpPr/>
          <p:nvPr/>
        </p:nvSpPr>
        <p:spPr>
          <a:xfrm>
            <a:off x="6922008" y="5486400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MVP integrado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8"/>
          <p:cNvSpPr/>
          <p:nvPr/>
        </p:nvSpPr>
        <p:spPr>
          <a:xfrm>
            <a:off x="8686800" y="5431536"/>
            <a:ext cx="566928" cy="310896"/>
          </a:xfrm>
          <a:prstGeom prst="rect">
            <a:avLst/>
          </a:prstGeom>
          <a:solidFill>
            <a:srgbClr val="FFF7E6"/>
          </a:solidFill>
          <a:ln cap="flat" cmpd="sng" w="12700">
            <a:solidFill>
              <a:srgbClr val="FFF7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8"/>
          <p:cNvSpPr/>
          <p:nvPr/>
        </p:nvSpPr>
        <p:spPr>
          <a:xfrm>
            <a:off x="8759952" y="5481828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S18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8"/>
          <p:cNvSpPr/>
          <p:nvPr/>
        </p:nvSpPr>
        <p:spPr>
          <a:xfrm>
            <a:off x="9345168" y="5486400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Entrega final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8"/>
          <p:cNvSpPr txBox="1"/>
          <p:nvPr>
            <p:ph idx="4294967295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9"/>
          <p:cNvSpPr/>
          <p:nvPr/>
        </p:nvSpPr>
        <p:spPr>
          <a:xfrm>
            <a:off x="502920" y="25603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9"/>
          <p:cNvSpPr/>
          <p:nvPr/>
        </p:nvSpPr>
        <p:spPr>
          <a:xfrm>
            <a:off x="502920" y="57607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183153"/>
                </a:solidFill>
                <a:latin typeface="Play"/>
                <a:ea typeface="Play"/>
                <a:cs typeface="Play"/>
                <a:sym typeface="Play"/>
              </a:rPr>
              <a:t>Evidencias del proyecto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9"/>
          <p:cNvSpPr/>
          <p:nvPr/>
        </p:nvSpPr>
        <p:spPr>
          <a:xfrm>
            <a:off x="502920" y="10515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Productos que permiten demostrar el avance y el cumplimiento de los objetivos.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s1_img1.jpg" id="569" name="Google Shape;5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0" y="164592"/>
            <a:ext cx="242316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9"/>
          <p:cNvSpPr/>
          <p:nvPr/>
        </p:nvSpPr>
        <p:spPr>
          <a:xfrm>
            <a:off x="685800" y="1664208"/>
            <a:ext cx="5138928" cy="19019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9"/>
          <p:cNvSpPr/>
          <p:nvPr/>
        </p:nvSpPr>
        <p:spPr>
          <a:xfrm>
            <a:off x="685800" y="1664208"/>
            <a:ext cx="109728" cy="190195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9"/>
          <p:cNvSpPr/>
          <p:nvPr/>
        </p:nvSpPr>
        <p:spPr>
          <a:xfrm>
            <a:off x="978408" y="1865376"/>
            <a:ext cx="868680" cy="310896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9"/>
          <p:cNvSpPr/>
          <p:nvPr/>
        </p:nvSpPr>
        <p:spPr>
          <a:xfrm>
            <a:off x="1051560" y="1915668"/>
            <a:ext cx="7223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AVANCE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9"/>
          <p:cNvSpPr/>
          <p:nvPr/>
        </p:nvSpPr>
        <p:spPr>
          <a:xfrm>
            <a:off x="2011680" y="1874520"/>
            <a:ext cx="3502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Definición y validación de la idea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9"/>
          <p:cNvSpPr/>
          <p:nvPr/>
        </p:nvSpPr>
        <p:spPr>
          <a:xfrm>
            <a:off x="978408" y="2368296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Problema, usuarios, alcance preliminar, entrevistas o retroalimentación y propuesta de valor.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9"/>
          <p:cNvSpPr/>
          <p:nvPr/>
        </p:nvSpPr>
        <p:spPr>
          <a:xfrm>
            <a:off x="978408" y="3072384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¿Por qué importa?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9"/>
          <p:cNvSpPr/>
          <p:nvPr/>
        </p:nvSpPr>
        <p:spPr>
          <a:xfrm>
            <a:off x="2194560" y="3026664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Demuestra que la idea responde a una necesidad real.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9"/>
          <p:cNvSpPr/>
          <p:nvPr/>
        </p:nvSpPr>
        <p:spPr>
          <a:xfrm>
            <a:off x="6217920" y="1664208"/>
            <a:ext cx="5138928" cy="19019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9"/>
          <p:cNvSpPr/>
          <p:nvPr/>
        </p:nvSpPr>
        <p:spPr>
          <a:xfrm>
            <a:off x="7543800" y="1874520"/>
            <a:ext cx="3502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Diseño y factibilidad técnica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9"/>
          <p:cNvSpPr/>
          <p:nvPr/>
        </p:nvSpPr>
        <p:spPr>
          <a:xfrm>
            <a:off x="6510528" y="2368296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Requisitos, casos de uso, prototipos, modelo de datos preliminar y comparación tecnológica.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9"/>
          <p:cNvSpPr/>
          <p:nvPr/>
        </p:nvSpPr>
        <p:spPr>
          <a:xfrm>
            <a:off x="6510528" y="3072384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¿Por qué importa?</a:t>
            </a:r>
            <a:endParaRPr b="1" i="0" sz="950" u="none" cap="none" strike="noStrike">
              <a:solidFill>
                <a:srgbClr val="0891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9"/>
          <p:cNvSpPr/>
          <p:nvPr/>
        </p:nvSpPr>
        <p:spPr>
          <a:xfrm>
            <a:off x="7726680" y="3026664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Justifica decisiones técnicas antes del desarrollo.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9"/>
          <p:cNvSpPr/>
          <p:nvPr/>
        </p:nvSpPr>
        <p:spPr>
          <a:xfrm>
            <a:off x="685800" y="3877056"/>
            <a:ext cx="5138928" cy="19019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9"/>
          <p:cNvSpPr/>
          <p:nvPr/>
        </p:nvSpPr>
        <p:spPr>
          <a:xfrm>
            <a:off x="969233" y="4055414"/>
            <a:ext cx="868800" cy="3108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9"/>
          <p:cNvSpPr/>
          <p:nvPr/>
        </p:nvSpPr>
        <p:spPr>
          <a:xfrm>
            <a:off x="1051560" y="4128516"/>
            <a:ext cx="7223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9"/>
          <p:cNvSpPr/>
          <p:nvPr/>
        </p:nvSpPr>
        <p:spPr>
          <a:xfrm>
            <a:off x="2011680" y="4087368"/>
            <a:ext cx="3502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Plataforma WEB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9"/>
          <p:cNvSpPr/>
          <p:nvPr/>
        </p:nvSpPr>
        <p:spPr>
          <a:xfrm>
            <a:off x="978408" y="4581144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Aplicación integrada con gestión de flota, turnos, documentos, alertas e ingresos opcionales.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9"/>
          <p:cNvSpPr/>
          <p:nvPr/>
        </p:nvSpPr>
        <p:spPr>
          <a:xfrm>
            <a:off x="978408" y="5285232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¿Por qué importa?</a:t>
            </a:r>
            <a:endParaRPr b="1" i="0" sz="950" u="none" cap="none" strike="noStrike">
              <a:solidFill>
                <a:srgbClr val="16A3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9"/>
          <p:cNvSpPr/>
          <p:nvPr/>
        </p:nvSpPr>
        <p:spPr>
          <a:xfrm>
            <a:off x="2194560" y="523951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Permite verificar los objetivos y requisitos priorizados.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9"/>
          <p:cNvSpPr/>
          <p:nvPr/>
        </p:nvSpPr>
        <p:spPr>
          <a:xfrm>
            <a:off x="6217920" y="3877056"/>
            <a:ext cx="5138928" cy="19019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9"/>
          <p:cNvSpPr/>
          <p:nvPr/>
        </p:nvSpPr>
        <p:spPr>
          <a:xfrm>
            <a:off x="7543800" y="4087368"/>
            <a:ext cx="3502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Informe, pruebas y manual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9"/>
          <p:cNvSpPr/>
          <p:nvPr/>
        </p:nvSpPr>
        <p:spPr>
          <a:xfrm>
            <a:off x="6510528" y="4581144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Informe técnico, resultados de pruebas, manual de usuario, despliegue y presentación final.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9"/>
          <p:cNvSpPr/>
          <p:nvPr/>
        </p:nvSpPr>
        <p:spPr>
          <a:xfrm>
            <a:off x="6510528" y="5285232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¿Por qué importa?</a:t>
            </a:r>
            <a:endParaRPr b="1" i="0" sz="950" u="none" cap="none" strike="noStrike">
              <a:solidFill>
                <a:srgbClr val="F59E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9"/>
          <p:cNvSpPr/>
          <p:nvPr/>
        </p:nvSpPr>
        <p:spPr>
          <a:xfrm>
            <a:off x="7726680" y="523951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Documenta calidad, uso del sistema y competencias aplicadas.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9"/>
          <p:cNvSpPr txBox="1"/>
          <p:nvPr>
            <p:ph idx="4294967295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9"/>
          <p:cNvSpPr/>
          <p:nvPr/>
        </p:nvSpPr>
        <p:spPr>
          <a:xfrm>
            <a:off x="6217888" y="1664183"/>
            <a:ext cx="109800" cy="1902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9"/>
          <p:cNvSpPr/>
          <p:nvPr/>
        </p:nvSpPr>
        <p:spPr>
          <a:xfrm>
            <a:off x="6217900" y="3877033"/>
            <a:ext cx="109800" cy="1902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9"/>
          <p:cNvSpPr/>
          <p:nvPr/>
        </p:nvSpPr>
        <p:spPr>
          <a:xfrm>
            <a:off x="685763" y="3877033"/>
            <a:ext cx="109800" cy="1902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9"/>
          <p:cNvSpPr/>
          <p:nvPr/>
        </p:nvSpPr>
        <p:spPr>
          <a:xfrm>
            <a:off x="6647633" y="1842563"/>
            <a:ext cx="868800" cy="3108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9"/>
          <p:cNvSpPr/>
          <p:nvPr/>
        </p:nvSpPr>
        <p:spPr>
          <a:xfrm>
            <a:off x="6720785" y="1892856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AVANCE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9"/>
          <p:cNvSpPr/>
          <p:nvPr/>
        </p:nvSpPr>
        <p:spPr>
          <a:xfrm>
            <a:off x="6574383" y="4078264"/>
            <a:ext cx="868800" cy="3108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9"/>
          <p:cNvSpPr/>
          <p:nvPr/>
        </p:nvSpPr>
        <p:spPr>
          <a:xfrm>
            <a:off x="6656710" y="4151366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0"/>
          <p:cNvSpPr/>
          <p:nvPr/>
        </p:nvSpPr>
        <p:spPr>
          <a:xfrm>
            <a:off x="502920" y="25603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TECNOLOGÍA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0"/>
          <p:cNvSpPr/>
          <p:nvPr/>
        </p:nvSpPr>
        <p:spPr>
          <a:xfrm>
            <a:off x="502920" y="57607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183153"/>
                </a:solidFill>
                <a:latin typeface="Play"/>
                <a:ea typeface="Play"/>
                <a:cs typeface="Play"/>
                <a:sym typeface="Play"/>
              </a:rPr>
              <a:t>Arquitectura y stack propuesto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0"/>
          <p:cNvSpPr/>
          <p:nvPr/>
        </p:nvSpPr>
        <p:spPr>
          <a:xfrm>
            <a:off x="502920" y="10515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Solución simple para el MVP: monolito modular en capas, desplegable en Vercel y con base de datos relacional.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s1_img1.jpg" id="611" name="Google Shape;6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0" y="164592"/>
            <a:ext cx="242316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0"/>
          <p:cNvSpPr/>
          <p:nvPr/>
        </p:nvSpPr>
        <p:spPr>
          <a:xfrm>
            <a:off x="658368" y="16276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0"/>
          <p:cNvSpPr/>
          <p:nvPr/>
        </p:nvSpPr>
        <p:spPr>
          <a:xfrm>
            <a:off x="749808" y="2057400"/>
            <a:ext cx="4297680" cy="64008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0"/>
          <p:cNvSpPr/>
          <p:nvPr/>
        </p:nvSpPr>
        <p:spPr>
          <a:xfrm>
            <a:off x="941832" y="220370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0"/>
          <p:cNvSpPr/>
          <p:nvPr/>
        </p:nvSpPr>
        <p:spPr>
          <a:xfrm>
            <a:off x="2212848" y="2203704"/>
            <a:ext cx="2542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Next.js · React · TypeScript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10"/>
          <p:cNvCxnSpPr/>
          <p:nvPr/>
        </p:nvCxnSpPr>
        <p:spPr>
          <a:xfrm>
            <a:off x="2834640" y="2697480"/>
            <a:ext cx="0" cy="228600"/>
          </a:xfrm>
          <a:prstGeom prst="straightConnector1">
            <a:avLst/>
          </a:prstGeom>
          <a:noFill/>
          <a:ln cap="flat" cmpd="sng" w="16500">
            <a:solidFill>
              <a:srgbClr val="AAB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7" name="Google Shape;617;p10"/>
          <p:cNvSpPr/>
          <p:nvPr/>
        </p:nvSpPr>
        <p:spPr>
          <a:xfrm>
            <a:off x="749808" y="2926080"/>
            <a:ext cx="4297680" cy="64008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0"/>
          <p:cNvSpPr/>
          <p:nvPr/>
        </p:nvSpPr>
        <p:spPr>
          <a:xfrm>
            <a:off x="941832" y="307238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Backend modular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0"/>
          <p:cNvSpPr/>
          <p:nvPr/>
        </p:nvSpPr>
        <p:spPr>
          <a:xfrm>
            <a:off x="2212848" y="3072384"/>
            <a:ext cx="2542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Next.js API / lógica de negocio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p10"/>
          <p:cNvCxnSpPr/>
          <p:nvPr/>
        </p:nvCxnSpPr>
        <p:spPr>
          <a:xfrm>
            <a:off x="2834640" y="3566160"/>
            <a:ext cx="0" cy="228600"/>
          </a:xfrm>
          <a:prstGeom prst="straightConnector1">
            <a:avLst/>
          </a:prstGeom>
          <a:noFill/>
          <a:ln cap="flat" cmpd="sng" w="16500">
            <a:solidFill>
              <a:srgbClr val="AAB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1" name="Google Shape;621;p10"/>
          <p:cNvSpPr/>
          <p:nvPr/>
        </p:nvSpPr>
        <p:spPr>
          <a:xfrm>
            <a:off x="749808" y="3794760"/>
            <a:ext cx="4297680" cy="640080"/>
          </a:xfrm>
          <a:prstGeom prst="rect">
            <a:avLst/>
          </a:prstGeom>
          <a:solidFill>
            <a:srgbClr val="FFF7E6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0"/>
          <p:cNvSpPr/>
          <p:nvPr/>
        </p:nvSpPr>
        <p:spPr>
          <a:xfrm>
            <a:off x="941832" y="394106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Acceso a datos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0"/>
          <p:cNvSpPr/>
          <p:nvPr/>
        </p:nvSpPr>
        <p:spPr>
          <a:xfrm>
            <a:off x="2212848" y="3941064"/>
            <a:ext cx="2542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Prisma ORM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4" name="Google Shape;624;p10"/>
          <p:cNvCxnSpPr/>
          <p:nvPr/>
        </p:nvCxnSpPr>
        <p:spPr>
          <a:xfrm>
            <a:off x="2834640" y="4434840"/>
            <a:ext cx="0" cy="228600"/>
          </a:xfrm>
          <a:prstGeom prst="straightConnector1">
            <a:avLst/>
          </a:prstGeom>
          <a:noFill/>
          <a:ln cap="flat" cmpd="sng" w="16500">
            <a:solidFill>
              <a:srgbClr val="AAB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5" name="Google Shape;625;p10"/>
          <p:cNvSpPr/>
          <p:nvPr/>
        </p:nvSpPr>
        <p:spPr>
          <a:xfrm>
            <a:off x="749808" y="4663440"/>
            <a:ext cx="4297680" cy="640080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0"/>
          <p:cNvSpPr/>
          <p:nvPr/>
        </p:nvSpPr>
        <p:spPr>
          <a:xfrm>
            <a:off x="941832" y="480974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0"/>
          <p:cNvSpPr/>
          <p:nvPr/>
        </p:nvSpPr>
        <p:spPr>
          <a:xfrm>
            <a:off x="2212848" y="4809744"/>
            <a:ext cx="2542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PostgreSQL · Supabase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8" name="Google Shape;628;p10"/>
          <p:cNvCxnSpPr/>
          <p:nvPr/>
        </p:nvCxnSpPr>
        <p:spPr>
          <a:xfrm>
            <a:off x="5413248" y="1664208"/>
            <a:ext cx="0" cy="4443984"/>
          </a:xfrm>
          <a:prstGeom prst="straightConnector1">
            <a:avLst/>
          </a:prstGeom>
          <a:noFill/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9" name="Google Shape;629;p10"/>
          <p:cNvSpPr/>
          <p:nvPr/>
        </p:nvSpPr>
        <p:spPr>
          <a:xfrm>
            <a:off x="5806440" y="16276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Herramientas complementarias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0"/>
          <p:cNvSpPr/>
          <p:nvPr/>
        </p:nvSpPr>
        <p:spPr>
          <a:xfrm>
            <a:off x="5815584" y="2121408"/>
            <a:ext cx="5413248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0"/>
          <p:cNvSpPr/>
          <p:nvPr/>
        </p:nvSpPr>
        <p:spPr>
          <a:xfrm>
            <a:off x="6053328" y="226771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Tailwind CSS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0"/>
          <p:cNvSpPr/>
          <p:nvPr/>
        </p:nvSpPr>
        <p:spPr>
          <a:xfrm>
            <a:off x="7571232" y="2258568"/>
            <a:ext cx="33649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Interfaz responsive y rápida de construir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0"/>
          <p:cNvSpPr/>
          <p:nvPr/>
        </p:nvSpPr>
        <p:spPr>
          <a:xfrm>
            <a:off x="5815584" y="2871216"/>
            <a:ext cx="5413248" cy="548640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0"/>
          <p:cNvSpPr/>
          <p:nvPr/>
        </p:nvSpPr>
        <p:spPr>
          <a:xfrm>
            <a:off x="6053328" y="301752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Supabase Auth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0"/>
          <p:cNvSpPr/>
          <p:nvPr/>
        </p:nvSpPr>
        <p:spPr>
          <a:xfrm>
            <a:off x="7571232" y="3008376"/>
            <a:ext cx="33649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Autenticación y sesiones de usuario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0"/>
          <p:cNvSpPr/>
          <p:nvPr/>
        </p:nvSpPr>
        <p:spPr>
          <a:xfrm>
            <a:off x="5815584" y="3621024"/>
            <a:ext cx="5413248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0"/>
          <p:cNvSpPr/>
          <p:nvPr/>
        </p:nvSpPr>
        <p:spPr>
          <a:xfrm>
            <a:off x="6053328" y="376732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Zod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0"/>
          <p:cNvSpPr/>
          <p:nvPr/>
        </p:nvSpPr>
        <p:spPr>
          <a:xfrm>
            <a:off x="7571232" y="3758184"/>
            <a:ext cx="33649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Validación de datos y formularios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0"/>
          <p:cNvSpPr/>
          <p:nvPr/>
        </p:nvSpPr>
        <p:spPr>
          <a:xfrm>
            <a:off x="5815584" y="4370832"/>
            <a:ext cx="5413248" cy="548640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0"/>
          <p:cNvSpPr/>
          <p:nvPr/>
        </p:nvSpPr>
        <p:spPr>
          <a:xfrm>
            <a:off x="6053328" y="451713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1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Vercel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0"/>
          <p:cNvSpPr/>
          <p:nvPr/>
        </p:nvSpPr>
        <p:spPr>
          <a:xfrm>
            <a:off x="7571232" y="4507992"/>
            <a:ext cx="33649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Deploy de la aplicación web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0"/>
          <p:cNvSpPr/>
          <p:nvPr/>
        </p:nvSpPr>
        <p:spPr>
          <a:xfrm>
            <a:off x="5815584" y="5120640"/>
            <a:ext cx="5413248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0"/>
          <p:cNvSpPr/>
          <p:nvPr/>
        </p:nvSpPr>
        <p:spPr>
          <a:xfrm>
            <a:off x="6053328" y="526694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0"/>
          <p:cNvSpPr/>
          <p:nvPr/>
        </p:nvSpPr>
        <p:spPr>
          <a:xfrm>
            <a:off x="7571232" y="5257800"/>
            <a:ext cx="33649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Control de versiones y trabajo colaborativo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0"/>
          <p:cNvSpPr/>
          <p:nvPr/>
        </p:nvSpPr>
        <p:spPr>
          <a:xfrm>
            <a:off x="6035040" y="5769864"/>
            <a:ext cx="49743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0"/>
          <p:cNvSpPr txBox="1"/>
          <p:nvPr>
            <p:ph idx="4294967295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3153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153"/>
          </a:solidFill>
          <a:ln cap="flat" cmpd="sng" w="1270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/s1_img1.jpg" id="654" name="Google Shape;6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41080" y="475488"/>
            <a:ext cx="2834640" cy="704088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11"/>
          <p:cNvSpPr/>
          <p:nvPr/>
        </p:nvSpPr>
        <p:spPr>
          <a:xfrm>
            <a:off x="713232" y="1097280"/>
            <a:ext cx="402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1"/>
          <p:cNvSpPr/>
          <p:nvPr/>
        </p:nvSpPr>
        <p:spPr>
          <a:xfrm>
            <a:off x="713232" y="1645920"/>
            <a:ext cx="7955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Gestión simple, ordenada y accesible para el transporte de pasajeros.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1"/>
          <p:cNvSpPr/>
          <p:nvPr/>
        </p:nvSpPr>
        <p:spPr>
          <a:xfrm>
            <a:off x="749808" y="3337560"/>
            <a:ext cx="3246120" cy="1115568"/>
          </a:xfrm>
          <a:prstGeom prst="rect">
            <a:avLst/>
          </a:prstGeom>
          <a:solidFill>
            <a:srgbClr val="223E62">
              <a:alpha val="92157"/>
            </a:srgbClr>
          </a:solidFill>
          <a:ln cap="flat" cmpd="sng" w="12700">
            <a:solidFill>
              <a:srgbClr val="456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1"/>
          <p:cNvSpPr/>
          <p:nvPr/>
        </p:nvSpPr>
        <p:spPr>
          <a:xfrm>
            <a:off x="932688" y="354787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Centraliza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1"/>
          <p:cNvSpPr/>
          <p:nvPr/>
        </p:nvSpPr>
        <p:spPr>
          <a:xfrm>
            <a:off x="969264" y="3886200"/>
            <a:ext cx="2807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7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CE7F2"/>
                </a:solidFill>
                <a:latin typeface="Arial"/>
                <a:ea typeface="Arial"/>
                <a:cs typeface="Arial"/>
                <a:sym typeface="Arial"/>
              </a:rPr>
              <a:t>vehículos, conductores, turnos y documentos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1"/>
          <p:cNvSpPr/>
          <p:nvPr/>
        </p:nvSpPr>
        <p:spPr>
          <a:xfrm>
            <a:off x="4407408" y="3337560"/>
            <a:ext cx="3246120" cy="1115568"/>
          </a:xfrm>
          <a:prstGeom prst="rect">
            <a:avLst/>
          </a:prstGeom>
          <a:solidFill>
            <a:srgbClr val="223E62">
              <a:alpha val="92157"/>
            </a:srgbClr>
          </a:solidFill>
          <a:ln cap="flat" cmpd="sng" w="12700">
            <a:solidFill>
              <a:srgbClr val="456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1"/>
          <p:cNvSpPr/>
          <p:nvPr/>
        </p:nvSpPr>
        <p:spPr>
          <a:xfrm>
            <a:off x="4590288" y="354787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Previene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1"/>
          <p:cNvSpPr/>
          <p:nvPr/>
        </p:nvSpPr>
        <p:spPr>
          <a:xfrm>
            <a:off x="4626864" y="3886200"/>
            <a:ext cx="2807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7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CE7F2"/>
                </a:solidFill>
                <a:latin typeface="Arial"/>
                <a:ea typeface="Arial"/>
                <a:cs typeface="Arial"/>
                <a:sym typeface="Arial"/>
              </a:rPr>
              <a:t>olvidos mediante alertas de vencimiento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1"/>
          <p:cNvSpPr/>
          <p:nvPr/>
        </p:nvSpPr>
        <p:spPr>
          <a:xfrm>
            <a:off x="8065008" y="3337560"/>
            <a:ext cx="3246120" cy="1115568"/>
          </a:xfrm>
          <a:prstGeom prst="rect">
            <a:avLst/>
          </a:prstGeom>
          <a:solidFill>
            <a:srgbClr val="223E62">
              <a:alpha val="92157"/>
            </a:srgbClr>
          </a:solidFill>
          <a:ln cap="flat" cmpd="sng" w="12700">
            <a:solidFill>
              <a:srgbClr val="456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1"/>
          <p:cNvSpPr/>
          <p:nvPr/>
        </p:nvSpPr>
        <p:spPr>
          <a:xfrm>
            <a:off x="8247888" y="3547872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Simplifica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1"/>
          <p:cNvSpPr/>
          <p:nvPr/>
        </p:nvSpPr>
        <p:spPr>
          <a:xfrm>
            <a:off x="8284464" y="3886200"/>
            <a:ext cx="2807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7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CE7F2"/>
                </a:solidFill>
                <a:latin typeface="Arial"/>
                <a:ea typeface="Arial"/>
                <a:cs typeface="Arial"/>
                <a:sym typeface="Arial"/>
              </a:rPr>
              <a:t>la operación sin GPS ni hardware adicional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1"/>
          <p:cNvSpPr/>
          <p:nvPr/>
        </p:nvSpPr>
        <p:spPr>
          <a:xfrm>
            <a:off x="4407408" y="521208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PREGUNTAS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7" name="Google Shape;667;p11"/>
          <p:cNvCxnSpPr/>
          <p:nvPr/>
        </p:nvCxnSpPr>
        <p:spPr>
          <a:xfrm>
            <a:off x="4892040" y="5815584"/>
            <a:ext cx="2395728" cy="0"/>
          </a:xfrm>
          <a:prstGeom prst="straightConnector1">
            <a:avLst/>
          </a:prstGeom>
          <a:noFill/>
          <a:ln cap="flat" cmpd="sng" w="317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8" name="Google Shape;668;p11"/>
          <p:cNvSpPr txBox="1"/>
          <p:nvPr>
            <p:ph idx="4294967295" type="sldNum"/>
          </p:nvPr>
        </p:nvSpPr>
        <p:spPr>
          <a:xfrm>
            <a:off x="1138428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2026-09-04T23:54:38Z</dcterms:created>
  <dc:creator>OpenAI</dc:creator>
</cp:coreProperties>
</file>